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  <a:latin typeface="Arial"/>
              </a:defRPr>
            </a:pPr>
            <a:r>
              <a:t>CODEBASE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FFFFF"/>
                </a:solidFill>
                <a:latin typeface="Arial"/>
              </a:defRPr>
            </a:pPr>
            <a:r>
              <a:t>BlogFlow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Arial"/>
              </a:defRPr>
            </a:pPr>
            <a:r>
              <a:t>AI-Powered Blog Content Creation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5029200"/>
            <a:ext cx="1463040" cy="411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CBD5E1"/>
                </a:solidFill>
                <a:latin typeface="Arial"/>
              </a:defRPr>
            </a:pPr>
            <a:r>
              <a:t>React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71800" y="5029200"/>
            <a:ext cx="1463040" cy="411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CBD5E1"/>
                </a:solidFill>
                <a:latin typeface="Arial"/>
              </a:defRPr>
            </a:pPr>
            <a:r>
              <a:t>TypeScript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5029200"/>
            <a:ext cx="1463040" cy="411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CBD5E1"/>
                </a:solidFill>
                <a:latin typeface="Arial"/>
              </a:defRPr>
            </a:pPr>
            <a:r>
              <a:t>Supabase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5029200"/>
            <a:ext cx="1463040" cy="411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CBD5E1"/>
                </a:solidFill>
                <a:latin typeface="Arial"/>
              </a:defRPr>
            </a:pPr>
            <a:r>
              <a:t>Claude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5029200"/>
            <a:ext cx="1463040" cy="411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CBD5E1"/>
                </a:solidFill>
                <a:latin typeface="Arial"/>
              </a:defRPr>
            </a:pPr>
            <a:r>
              <a:t>Tailwind CSS v4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029200"/>
            <a:ext cx="1463040" cy="411480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CBD5E1"/>
                </a:solidFill>
                <a:latin typeface="Arial"/>
              </a:defRPr>
            </a:pPr>
            <a:r>
              <a:t>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Arial"/>
              </a:defRPr>
            </a:pPr>
            <a:r>
              <a:t>BlogFlow는 AI 기반 블로그 콘텐츠 제작 플랫폼입니다.</a:t>
            </a:r>
            <a:br/>
            <a:r>
              <a:t>사용자가 URL/파일을 입력하면, AI가 인사이트를 추출하고 리서치를 수행한 뒤</a:t>
            </a:r>
            <a:br/>
            <a:r>
              <a:t>아웃라인 작성과 최종 드래프트 생성, SEO 최적화까지 자동화합니다.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1691640" cy="3200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743200"/>
            <a:ext cx="1417320" cy="54864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Arial"/>
              </a:defRPr>
            </a:pPr>
            <a:r>
              <a:t>Resource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576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rial"/>
              </a:defRPr>
            </a:pPr>
            <a:r>
              <a:t>URL/파일에서</a:t>
            </a:r>
            <a:br/>
            <a:r>
              <a:t>콘텐츠 수집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120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E40AF"/>
                </a:solidFill>
                <a:latin typeface="Arial"/>
              </a:defRPr>
            </a:pPr>
            <a:r>
              <a:t>Step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39" y="2560320"/>
            <a:ext cx="1691640" cy="3200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199" y="2743200"/>
            <a:ext cx="14173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199" y="3017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Arial"/>
              </a:defRPr>
            </a:pPr>
            <a:r>
              <a:t>AI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199" y="36576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rial"/>
              </a:defRPr>
            </a:pPr>
            <a:r>
              <a:t>Claude AI로</a:t>
            </a:r>
            <a:br/>
            <a:r>
              <a:t>인사이트 추출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199" y="5120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7C3AED"/>
                </a:solidFill>
                <a:latin typeface="Arial"/>
              </a:defRPr>
            </a:pPr>
            <a:r>
              <a:t>Step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59" y="2560320"/>
            <a:ext cx="1691640" cy="3200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17719" y="2743200"/>
            <a:ext cx="141732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19" y="3017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Arial"/>
              </a:defRPr>
            </a:pPr>
            <a:r>
              <a:t>Deep Research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19" y="36576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rial"/>
              </a:defRPr>
            </a:pPr>
            <a:r>
              <a:t>심층 리서치 및</a:t>
            </a:r>
            <a:br/>
            <a:r>
              <a:t>시장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5120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Step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79" y="2560320"/>
            <a:ext cx="1691640" cy="3200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39" y="2743200"/>
            <a:ext cx="14173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39" y="3017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Arial"/>
              </a:defRPr>
            </a:pPr>
            <a:r>
              <a:t>Outline Editor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39" y="36576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rial"/>
              </a:defRPr>
            </a:pPr>
            <a:r>
              <a:t>3-패널 에디터로</a:t>
            </a:r>
            <a:br/>
            <a:r>
              <a:t>구조 편집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39" y="5120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Step 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560320"/>
            <a:ext cx="1691640" cy="3200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66760" y="2743200"/>
            <a:ext cx="1417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017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Arial"/>
              </a:defRPr>
            </a:pPr>
            <a:r>
              <a:t>Draft Generation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6576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rial"/>
              </a:defRPr>
            </a:pPr>
            <a:r>
              <a:t>AI 기반</a:t>
            </a:r>
            <a:br/>
            <a:r>
              <a:t>드래프트 작성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5120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Step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104120" y="2560320"/>
            <a:ext cx="1691640" cy="32004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41280" y="2743200"/>
            <a:ext cx="1417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41280" y="3017520"/>
            <a:ext cx="1417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Arial"/>
              </a:defRPr>
            </a:pPr>
            <a:r>
              <a:t>SEO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3657600"/>
            <a:ext cx="1417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Arial"/>
              </a:defRPr>
            </a:pPr>
            <a:r>
              <a:t>SEO 점수 분석</a:t>
            </a:r>
            <a:br/>
            <a:r>
              <a:t>및 최적화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5120640"/>
            <a:ext cx="1417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F4444"/>
                </a:solidFill>
                <a:latin typeface="Arial"/>
              </a:defRPr>
            </a:pPr>
            <a:r>
              <a:t>Step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Arial"/>
              </a:defRPr>
            </a:pPr>
            <a:r>
              <a:t>Workflow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Arial"/>
              </a:defRPr>
            </a:pPr>
            <a:r>
              <a:t>7단계 순차 워크플로우 — useWorkflow() 커스텀 훅으로 상태 관리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444752" cy="3474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50976" y="228600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E40AF"/>
                </a:solidFill>
                <a:latin typeface="Arial"/>
              </a:defRPr>
            </a:pPr>
            <a:r>
              <a:t>'input'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29184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ResourceInput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84048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URL/파일 입력</a:t>
            </a:r>
            <a:br/>
            <a:r>
              <a:t>키워드, 타겟 설정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01952" y="3566160"/>
            <a:ext cx="18288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84832" y="2103120"/>
            <a:ext cx="1444752" cy="3474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78608" y="228600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30552" y="28803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66F1"/>
                </a:solidFill>
                <a:latin typeface="Arial"/>
              </a:defRPr>
            </a:pPr>
            <a:r>
              <a:t>'analyzing'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329184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AnalysisLoading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30552" y="384048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리소스 수집</a:t>
            </a:r>
            <a:br/>
            <a:r>
              <a:t>인사이트 추출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529584" y="3566160"/>
            <a:ext cx="18288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12464" y="2103120"/>
            <a:ext cx="1444752" cy="3474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06240" y="228600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58184" y="28803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7C3AED"/>
                </a:solidFill>
                <a:latin typeface="Arial"/>
              </a:defRPr>
            </a:pPr>
            <a:r>
              <a:t>'selection'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58184" y="329184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InsightSelection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8184" y="384048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인사이트 선택</a:t>
            </a:r>
            <a:br/>
            <a:r>
              <a:t>개발할 주제 결정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157216" y="3566160"/>
            <a:ext cx="18288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340096" y="2103120"/>
            <a:ext cx="1444752" cy="3474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33872" y="2286000"/>
            <a:ext cx="457200" cy="4572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5816" y="28803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Arial"/>
              </a:defRPr>
            </a:pPr>
            <a:r>
              <a:t>'researching'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85816" y="329184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DeepResearch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85816" y="384048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심층 리서치</a:t>
            </a:r>
            <a:br/>
            <a:r>
              <a:t>시장/경쟁 분석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6784848" y="3566160"/>
            <a:ext cx="18288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967728" y="2103120"/>
            <a:ext cx="1444752" cy="3474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461504" y="2286000"/>
            <a:ext cx="457200" cy="4572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13448" y="28803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  <a:latin typeface="Arial"/>
              </a:defRPr>
            </a:pPr>
            <a:r>
              <a:t>'outline'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29184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OutlineEditor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3448" y="384048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3-패널 에디터</a:t>
            </a:r>
            <a:br/>
            <a:r>
              <a:t>구조 편집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412480" y="3566160"/>
            <a:ext cx="18288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95360" y="2103120"/>
            <a:ext cx="1444752" cy="3474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89136" y="228600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28803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59E0B"/>
                </a:solidFill>
                <a:latin typeface="Arial"/>
              </a:defRPr>
            </a:pPr>
            <a:r>
              <a:t>'writing'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329184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WritingDraft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41080" y="384048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AI 드래프트</a:t>
            </a:r>
            <a:br/>
            <a:r>
              <a:t>생성 중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040112" y="3566160"/>
            <a:ext cx="182880" cy="2286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222992" y="2103120"/>
            <a:ext cx="1444752" cy="34747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716768" y="2286000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68712" y="288036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Arial"/>
              </a:defRPr>
            </a:pPr>
            <a:r>
              <a:t>'final'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68712" y="3291840"/>
            <a:ext cx="1353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rial"/>
              </a:defRPr>
            </a:pPr>
            <a:r>
              <a:t>FinalDraftScreen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68712" y="3840480"/>
            <a:ext cx="135331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E293B"/>
                </a:solidFill>
                <a:latin typeface="Arial"/>
              </a:defRPr>
            </a:pPr>
            <a:r>
              <a:t>SEO 분석</a:t>
            </a:r>
            <a:br/>
            <a:r>
              <a:t>발행/내보내기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Arial"/>
              </a:defRPr>
            </a:pPr>
            <a:r>
              <a:t>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303520" cy="50292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40AF"/>
                </a:solidFill>
                <a:latin typeface="Arial"/>
              </a:defRPr>
            </a:pPr>
            <a:r>
              <a:t>Frontend (React + Vite)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4754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Arial"/>
              </a:defRPr>
            </a:pPr>
            <a:r>
              <a:t>App.tsx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라우팅 (/, /saved, /drafts/:id)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788920"/>
            <a:ext cx="4754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Arial"/>
              </a:defRPr>
            </a:pPr>
            <a:r>
              <a:t>WorkflowContainer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워크플로우 단계 렌더링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66160"/>
            <a:ext cx="4754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Arial"/>
              </a:defRPr>
            </a:pPr>
            <a:r>
              <a:t>useWorkflow()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상태 머신 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343400"/>
            <a:ext cx="4754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Arial"/>
              </a:defRPr>
            </a:pPr>
            <a:r>
              <a:t>blogApi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API 레이어 (~540줄)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4754880" cy="640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166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Arial"/>
              </a:defRPr>
            </a:pPr>
            <a:r>
              <a:t>components/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40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Arial"/>
              </a:defRPr>
            </a:pPr>
            <a:r>
              <a:t>shadcn/ui + 공유 컴포넌트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5486400" cy="256032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Arial"/>
              </a:defRPr>
            </a:pPr>
            <a:r>
              <a:t>Backend (Supabase Edge Functions)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collect-resource — URL 스크래핑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3042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extract-insights — Claude AI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596896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deep-research — 심층 리서치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889504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generate-outline — 아웃라인 생성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182112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write-draft — 드래프트 작성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analyze-seo — SEO 분석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4206240"/>
            <a:ext cx="5486400" cy="219456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Arial"/>
              </a:defRPr>
            </a:pPr>
            <a:r>
              <a:t>Database (Supabase PostgreSQL)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846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workflow_sessions — 워크플로우 세션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120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resources — 수집된 리소스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53949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insights — 추출된 인사이트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56692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research — 심층 리서치 결과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5943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outlines / drafts — 아웃라인 &amp; 드래프트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Arial"/>
              </a:defRPr>
            </a:pPr>
            <a:r>
              <a:t>Directory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120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40AF"/>
                </a:solidFill>
                <a:latin typeface="Arial"/>
              </a:defRPr>
            </a:pPr>
            <a:r>
              <a:t>src/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App.tsx                  — 메인 라우터</a:t>
            </a:r>
            <a:br/>
            <a:r>
              <a:t>main.tsx                 — 엔트리 포인트</a:t>
            </a:r>
            <a:br/>
            <a:r>
              <a:t>components/shared/       — Layout, Sidebar, ProgressBar</a:t>
            </a:r>
            <a:br/>
            <a:r>
              <a:t>components/ui/           — shadcn/ui 컴포넌트</a:t>
            </a:r>
            <a:br/>
            <a:r>
              <a:t>features/workflow/       — 워크플로우 (핵심 기능)</a:t>
            </a:r>
            <a:br/>
            <a:r>
              <a:t>  ├ WorkflowContainer.tsx — 단계별 렌더링</a:t>
            </a:r>
            <a:br/>
            <a:r>
              <a:t>  ├ hooks/useWorkflow.ts  — 상태 머신 훅</a:t>
            </a:r>
            <a:br/>
            <a:r>
              <a:t>  ├ components/           — 6개 단계 컴포넌트</a:t>
            </a:r>
            <a:br/>
            <a:r>
              <a:t>  └ types/index.ts        — TypeScript 타입 정의</a:t>
            </a:r>
            <a:br/>
            <a:r>
              <a:t>features/drafts/         — 저장된 드래프트 관리</a:t>
            </a:r>
            <a:br/>
            <a:r>
              <a:t>features/prompts/        — AI 프롬프트 관리 (beta)</a:t>
            </a:r>
            <a:br/>
            <a:r>
              <a:t>features/news/           — 뉴스 검색</a:t>
            </a:r>
            <a:br/>
            <a:r>
              <a:t>lib/api.ts               — Supabase API (~540줄)</a:t>
            </a:r>
            <a:br/>
            <a:r>
              <a:t>lib/supabase.ts          — Supabase 클라이언트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5120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  <a:latin typeface="Arial"/>
              </a:defRPr>
            </a:pPr>
            <a:r>
              <a:t>supabase/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migrations/</a:t>
            </a:r>
            <a:br/>
            <a:r>
              <a:t>  ├ 001_initial_schema.sql</a:t>
            </a:r>
            <a:br/>
            <a:r>
              <a:t>  ├ 002_add_seo_fields.sql</a:t>
            </a:r>
            <a:br/>
            <a:r>
              <a:t>  ├ 003_add_prompts_table.sql</a:t>
            </a:r>
            <a:br/>
            <a:r>
              <a:t>  ├ 004_seed_prompts.sql</a:t>
            </a:r>
            <a:br/>
            <a:r>
              <a:t>  └ 005-008 추가 마이그레이션</a:t>
            </a:r>
            <a:br/>
            <a:br/>
            <a:r>
              <a:t>functions/</a:t>
            </a:r>
            <a:br/>
            <a:r>
              <a:t>  ├ collect-resource/     — URL 스크래핑</a:t>
            </a:r>
            <a:br/>
            <a:r>
              <a:t>  ├ extract-insights/     — Claude AI 분석</a:t>
            </a:r>
            <a:br/>
            <a:r>
              <a:t>  ├ deep-research/        — 심층 리서치</a:t>
            </a:r>
            <a:br/>
            <a:r>
              <a:t>  ├ generate-outline/     — 아웃라인 생성</a:t>
            </a:r>
            <a:br/>
            <a:r>
              <a:t>  ├ write-draft/          — 드래프트 작성</a:t>
            </a:r>
            <a:br/>
            <a:r>
              <a:t>  ├ analyze-seo/          — SEO 분석</a:t>
            </a:r>
            <a:br/>
            <a:r>
              <a:t>  ├ search-news/          — 뉴스 검색</a:t>
            </a:r>
            <a:br/>
            <a:r>
              <a:t>  └ _shared/              — 공유 유틸리티</a:t>
            </a:r>
            <a:br/>
            <a:r>
              <a:t>      ├ anthropic.ts</a:t>
            </a:r>
            <a:br/>
            <a:r>
              <a:t>      ├ supabase.ts</a:t>
            </a:r>
            <a:br/>
            <a:r>
              <a:t>      ├ cors.ts</a:t>
            </a:r>
            <a:br/>
            <a:r>
              <a:t>      └ rateLimit.ts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Arial"/>
              </a:defRPr>
            </a:pPr>
            <a:r>
              <a:t>Database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rial"/>
              </a:defRPr>
            </a:pPr>
            <a:r>
              <a:t>Supabase PostgreSQL — 6개 핵심 테이블 + JSONB 유연한 데이터 구조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56616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356616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workflow_sessions  —  세션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id (UUID PK)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06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status (워크플로우 단계)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keywords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target_audience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45920"/>
            <a:ext cx="356616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645920"/>
            <a:ext cx="356616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resources  —  수집 리소스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session_id (FK)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06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source_type (url|file)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title, content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collected_at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645920"/>
            <a:ext cx="356616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38160" y="1645920"/>
            <a:ext cx="356616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insights  —  추출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22402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title, signal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606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confidence (high|mid|low)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971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tags TEXT[]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337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status (pending|selected)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206240"/>
            <a:ext cx="356616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7200" y="4206240"/>
            <a:ext cx="356616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research  —  심층 리서치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insight_id (FK)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market_data JSONB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competitor_analysis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97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statistics, sources JSONB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4206240"/>
            <a:ext cx="356616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297680" y="4206240"/>
            <a:ext cx="356616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outlines  —  아웃라인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title, thesis, tone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sections JSONB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8056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structure_pattern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0" y="5897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status (draft|approved)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60" y="4206240"/>
            <a:ext cx="356616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38160" y="4206240"/>
            <a:ext cx="3566160" cy="45720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4251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rial"/>
              </a:defRPr>
            </a:pPr>
            <a:r>
              <a:t>drafts  —  최종 드래프트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content (markdown)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word_count, char_count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5532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seo_metrics JSONB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5897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Arial"/>
              </a:defRPr>
            </a:pPr>
            <a:r>
              <a:t>• status (draft|final|pub)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Arial"/>
              </a:defRPr>
            </a:pPr>
            <a:r>
              <a:t>API Layer (blogApi)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rial"/>
              </a:defRPr>
            </a:pPr>
            <a:r>
              <a:t>src/lib/api.ts — 중앙집중식 Supabase API 래퍼 (~540줄)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6974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645920"/>
            <a:ext cx="2697480" cy="41148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createSession()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getSession()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updateSessionStatus()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645920"/>
            <a:ext cx="26974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645920"/>
            <a:ext cx="2697480" cy="41148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Resources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488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collectResource()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231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addFileResource()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getResources()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645920"/>
            <a:ext cx="26974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7920" y="1645920"/>
            <a:ext cx="269748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1488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extractInsights()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4231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getInsights()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974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selectInsights()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98280" y="1645920"/>
            <a:ext cx="26974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098280" y="1645920"/>
            <a:ext cx="269748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691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Research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1488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deepResearch()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24231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getResearch()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06240"/>
            <a:ext cx="26974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4206240"/>
            <a:ext cx="2697480" cy="4114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Outline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7091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generateOutline()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9834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getOutline()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2578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updateOutline()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55321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approveOutline()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37560" y="4206240"/>
            <a:ext cx="26974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337560" y="4206240"/>
            <a:ext cx="2697480" cy="41148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Draft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47091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writeDraft()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9834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getDraft()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0" y="525780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updateDraft()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0" y="553212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publishDraft()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80644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getAllDrafts()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0" y="6080759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deleteDraft()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206240"/>
            <a:ext cx="26974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17920" y="4206240"/>
            <a:ext cx="2697480" cy="4114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SEO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47091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analyzeSeo()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55080" y="49834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getSeoMetrics()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098280" y="4206240"/>
            <a:ext cx="26974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098280" y="4206240"/>
            <a:ext cx="2697480" cy="411480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35440" y="4251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"/>
              </a:defRPr>
            </a:pPr>
            <a:r>
              <a:t>Prompts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470916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getAllPrompts()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35440" y="4983480"/>
            <a:ext cx="2377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  <a:latin typeface="Consolas"/>
              </a:defRPr>
            </a:pPr>
            <a:r>
              <a:t>updatePrompt()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Arial"/>
              </a:defRPr>
            </a:pPr>
            <a:r>
              <a:t>Key Design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118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" y="1554480"/>
            <a:ext cx="73152" cy="19202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State Machine Hook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useWorkflow() 커스텀 훅이 전체 워크플로우 상태와</a:t>
            </a:r>
            <a:br/>
            <a:r>
              <a:t>작업을 캡슐화. 단일 진실 원천(Single Source of Truth)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371600"/>
            <a:ext cx="36118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73152" cy="1920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Component-Driven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각 워크플로우 단계가 독립적인 컴포넌트로 분리.</a:t>
            </a:r>
            <a:br/>
            <a:r>
              <a:t>WorkflowContainer에서 조건부 렌더링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6118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554480"/>
            <a:ext cx="73152" cy="1920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3-Panel Layout (Outline Editor)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0312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좌측: 아웃라인 트리 / 중앙: 상세 편집</a:t>
            </a:r>
            <a:br/>
            <a:r>
              <a:t>우측: AI 어시스턴트 — 전문적 UX 패턴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931920"/>
            <a:ext cx="36118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" y="4114800"/>
            <a:ext cx="73152" cy="19202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Centralized API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6634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모든 Supabase 호출이 blogApi 객체를 통해 이루어짐.</a:t>
            </a:r>
            <a:br/>
            <a:r>
              <a:t>일관된 에러 처리와 타입 안전성 보장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931920"/>
            <a:ext cx="36118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4114800"/>
            <a:ext cx="73152" cy="1920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1772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Server-side AI Processing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6634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Claude API 호출은 Edge Function에서 실행.</a:t>
            </a:r>
            <a:br/>
            <a:r>
              <a:t>API 키 보호 + 서버사이드 처리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31920"/>
            <a:ext cx="36118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83880" y="4114800"/>
            <a:ext cx="73152" cy="1920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1148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Arial"/>
              </a:defRPr>
            </a:pPr>
            <a:r>
              <a:t>JSONB for Flexible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6344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Arial"/>
              </a:defRPr>
            </a:pPr>
            <a:r>
              <a:t>research, outlines, drafts에 JSONB 활용.</a:t>
            </a:r>
            <a:br/>
            <a:r>
              <a:t>스키마 변경 없이 유연한 데이터 구조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93B"/>
                </a:solidFill>
                <a:latin typeface="Arial"/>
              </a:defRPr>
            </a:pPr>
            <a:r>
              <a:t>Tech Stack &amp; Dependencies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6974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697480" cy="45720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35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Core Framework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React 18 — UI 라이브러리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TypeScript — 타입 안전성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Vite — 빌드 툴 &amp; 개발 서버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React Router v6 — 클라이언트 라우팅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371600"/>
            <a:ext cx="26974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37560" y="1371600"/>
            <a:ext cx="2697480" cy="4572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435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Styling &amp;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Tailwind CSS v4 — 유틸리티 CSS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shadcn/ui — Radix UI 컴포넌트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657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Lucide React — 아이콘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Motion (Framer) — 애니메이션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371600"/>
            <a:ext cx="26974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269748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435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Backend &amp;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Supabase — PostgreSQL + Auth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Edge Functions (Deno) — 서버리스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657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Claude API — AI 처리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Perplexity API — 뉴스 검색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1371600"/>
            <a:ext cx="2697480" cy="4572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098280" y="1371600"/>
            <a:ext cx="269748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5440" y="143560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rial"/>
              </a:defRPr>
            </a:pPr>
            <a:r>
              <a:t>Dev Tools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201168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React Hook Form — 폼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60" y="28346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Path alias @ → ./src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36576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ESLint + TypeScript config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44805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E293B"/>
                </a:solidFill>
                <a:latin typeface="Arial"/>
              </a:defRPr>
            </a:pPr>
            <a:r>
              <a:t>npm 패키지 매니저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9144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rial"/>
              </a:defRPr>
            </a:pPr>
            <a:r>
              <a:t>  7단계 워크플로우 상태 머신으로 명확한 프로세스 관리</a:t>
            </a:r>
          </a:p>
        </p:txBody>
      </p:sp>
      <p:sp>
        <p:nvSpPr>
          <p:cNvPr id="5" name="Oval 4"/>
          <p:cNvSpPr/>
          <p:nvPr/>
        </p:nvSpPr>
        <p:spPr>
          <a:xfrm>
            <a:off x="1371600" y="21031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rial"/>
              </a:defRPr>
            </a:pPr>
            <a:r>
              <a:t>  각 단계를 독립 컴포넌트로 분리한 깔끔한 아키텍처</a:t>
            </a:r>
          </a:p>
        </p:txBody>
      </p:sp>
      <p:sp>
        <p:nvSpPr>
          <p:cNvPr id="7" name="Oval 6"/>
          <p:cNvSpPr/>
          <p:nvPr/>
        </p:nvSpPr>
        <p:spPr>
          <a:xfrm>
            <a:off x="1371600" y="265176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rial"/>
              </a:defRPr>
            </a:pPr>
            <a:r>
              <a:t>  blogApi 객체를 통한 중앙집중식 API 관리 (~540줄)</a:t>
            </a:r>
          </a:p>
        </p:txBody>
      </p:sp>
      <p:sp>
        <p:nvSpPr>
          <p:cNvPr id="9" name="Oval 8"/>
          <p:cNvSpPr/>
          <p:nvPr/>
        </p:nvSpPr>
        <p:spPr>
          <a:xfrm>
            <a:off x="1371600" y="320040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rial"/>
              </a:defRPr>
            </a:pPr>
            <a:r>
              <a:t>  Edge Functions로 AI 호출을 서버사이드에서 안전하게 처리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3749039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rial"/>
              </a:defRPr>
            </a:pPr>
            <a:r>
              <a:t>  JSONB 활용으로 유연한 데이터 구조 &amp; 스키마 확장성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4297679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rial"/>
              </a:defRPr>
            </a:pPr>
            <a:r>
              <a:t>  TypeScript 전체 적용으로 타입 안전성 보장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4846320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rial"/>
              </a:defRPr>
            </a:pPr>
            <a:r>
              <a:t>  shadcn/ui + Tailwind + Motion으로 세련된 UI/UX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5394959"/>
            <a:ext cx="137160" cy="13716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Arial"/>
              </a:defRPr>
            </a:pPr>
            <a:r>
              <a:t>BlogFlow — AI-Powered Blog Content Creation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